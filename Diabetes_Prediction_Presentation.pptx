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  <p:sldId id="266" r:id="rId10"/>
    <p:sldId id="270" r:id="rId11"/>
    <p:sldId id="271" r:id="rId12"/>
  </p:sldIdLst>
  <p:sldSz cx="12192000" cy="6858000"/>
  <p:notesSz cx="6858000" cy="9144000"/>
  <p:embeddedFontLst>
    <p:embeddedFont>
      <p:font typeface="Libre Franklin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jFh7zvQQ/B06UEQzzJ2m+jqaj+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17" d="100"/>
          <a:sy n="117" d="100"/>
        </p:scale>
        <p:origin x="-318" y="-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25" Type="http://customschemas.google.com/relationships/presentationmetadata" Target="metadata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0128423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8"/>
          <p:cNvSpPr txBox="1"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Libre Franklin"/>
              <a:buNone/>
              <a:defRPr sz="7200" cap="none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/>
            </a:lvl1pPr>
            <a:lvl2pPr lvl="1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6pPr>
            <a:lvl7pPr lvl="6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7pPr>
            <a:lvl8pPr lvl="7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8pPr>
            <a:lvl9pPr lvl="8" algn="ctr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dt" idx="10"/>
          </p:nvPr>
        </p:nvSpPr>
        <p:spPr>
          <a:xfrm>
            <a:off x="752858" y="6453386"/>
            <a:ext cx="1607944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ftr" idx="11"/>
          </p:nvPr>
        </p:nvSpPr>
        <p:spPr>
          <a:xfrm>
            <a:off x="2584054" y="6453386"/>
            <a:ext cx="7023377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sldNum" idx="12"/>
          </p:nvPr>
        </p:nvSpPr>
        <p:spPr>
          <a:xfrm>
            <a:off x="9830683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2" name="Google Shape;22;p18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23" name="Google Shape;23;p18"/>
            <p:cNvSpPr/>
            <p:nvPr/>
          </p:nvSpPr>
          <p:spPr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 extrusionOk="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</p:sp>
        <p:sp>
          <p:nvSpPr>
            <p:cNvPr id="24" name="Google Shape;24;p18"/>
            <p:cNvSpPr/>
            <p:nvPr/>
          </p:nvSpPr>
          <p:spPr>
            <a:xfrm rot="10800000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 extrusionOk="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 txBox="1">
            <a:spLocks noGrp="1"/>
          </p:cNvSpPr>
          <p:nvPr>
            <p:ph type="dt" idx="10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9"/>
          <p:cNvSpPr txBox="1">
            <a:spLocks noGrp="1"/>
          </p:cNvSpPr>
          <p:nvPr>
            <p:ph type="ftr" idx="11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9"/>
          <p:cNvSpPr txBox="1">
            <a:spLocks noGrp="1"/>
          </p:cNvSpPr>
          <p:nvPr>
            <p:ph type="sldNum" idx="12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0"/>
          <p:cNvSpPr txBox="1"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1pPr>
            <a:lvl2pPr marL="914400" lvl="1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3pPr>
            <a:lvl4pPr marL="1828800" lvl="3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5pPr>
            <a:lvl6pPr marL="2743200" lvl="5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marL="3657600" lvl="7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dt" idx="10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ftr" idx="11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0"/>
          <p:cNvSpPr txBox="1">
            <a:spLocks noGrp="1"/>
          </p:cNvSpPr>
          <p:nvPr>
            <p:ph type="sldNum" idx="12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dk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1"/>
          <p:cNvSpPr txBox="1"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Libre Franklin"/>
              <a:buNone/>
              <a:defRPr sz="7200" cap="none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1pPr>
            <a:lvl2pPr marL="914400" lvl="1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dt" idx="10"/>
          </p:nvPr>
        </p:nvSpPr>
        <p:spPr>
          <a:xfrm>
            <a:off x="738908" y="6453386"/>
            <a:ext cx="1622409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ftr" idx="11"/>
          </p:nvPr>
        </p:nvSpPr>
        <p:spPr>
          <a:xfrm>
            <a:off x="2584312" y="6453386"/>
            <a:ext cx="7023377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1"/>
          <p:cNvSpPr txBox="1">
            <a:spLocks noGrp="1"/>
          </p:cNvSpPr>
          <p:nvPr>
            <p:ph type="sldNum" idx="12"/>
          </p:nvPr>
        </p:nvSpPr>
        <p:spPr>
          <a:xfrm>
            <a:off x="9830683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" name="Google Shape;41;p21" title="Crop Mark"/>
          <p:cNvSpPr/>
          <p:nvPr/>
        </p:nvSpPr>
        <p:spPr>
          <a:xfrm>
            <a:off x="8151962" y="1685652"/>
            <a:ext cx="3275013" cy="4408488"/>
          </a:xfrm>
          <a:custGeom>
            <a:avLst/>
            <a:gdLst/>
            <a:ahLst/>
            <a:cxnLst/>
            <a:rect l="l" t="t" r="r" b="b"/>
            <a:pathLst>
              <a:path w="4125" h="5554" extrusionOk="0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2"/>
          <p:cNvSpPr txBox="1"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body" idx="1"/>
          </p:nvPr>
        </p:nvSpPr>
        <p:spPr>
          <a:xfrm>
            <a:off x="1371600" y="2285999"/>
            <a:ext cx="4447786" cy="3581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>
                <a:solidFill>
                  <a:schemeClr val="dk2"/>
                </a:solidFill>
              </a:defRPr>
            </a:lvl1pPr>
            <a:lvl2pPr marL="914400" lvl="1" indent="-355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solidFill>
                  <a:schemeClr val="dk2"/>
                </a:solidFill>
              </a:defRPr>
            </a:lvl2pPr>
            <a:lvl3pPr marL="1371600" lvl="2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marL="1828800" lvl="3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4pPr>
            <a:lvl5pPr marL="2286000" lvl="4" indent="-330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marL="3657600" lvl="7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body" idx="2"/>
          </p:nvPr>
        </p:nvSpPr>
        <p:spPr>
          <a:xfrm>
            <a:off x="6525403" y="2285999"/>
            <a:ext cx="4447786" cy="3581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>
                <a:solidFill>
                  <a:schemeClr val="dk2"/>
                </a:solidFill>
              </a:defRPr>
            </a:lvl1pPr>
            <a:lvl2pPr marL="914400" lvl="1" indent="-355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solidFill>
                  <a:schemeClr val="dk2"/>
                </a:solidFill>
              </a:defRPr>
            </a:lvl2pPr>
            <a:lvl3pPr marL="1371600" lvl="2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marL="1828800" lvl="3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4pPr>
            <a:lvl5pPr marL="2286000" lvl="4" indent="-330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marL="3657600" lvl="7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dt" idx="10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ftr" idx="11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sldNum" idx="12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body" idx="2"/>
          </p:nvPr>
        </p:nvSpPr>
        <p:spPr>
          <a:xfrm>
            <a:off x="1371600" y="3305207"/>
            <a:ext cx="4443984" cy="2562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>
                <a:solidFill>
                  <a:schemeClr val="dk2"/>
                </a:solidFill>
              </a:defRPr>
            </a:lvl1pPr>
            <a:lvl2pPr marL="914400" lvl="1" indent="-355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solidFill>
                  <a:schemeClr val="dk2"/>
                </a:solidFill>
              </a:defRPr>
            </a:lvl2pPr>
            <a:lvl3pPr marL="1371600" lvl="2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marL="1828800" lvl="3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4pPr>
            <a:lvl5pPr marL="2286000" lvl="4" indent="-330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marL="3657600" lvl="7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23"/>
          <p:cNvSpPr txBox="1">
            <a:spLocks noGrp="1"/>
          </p:cNvSpPr>
          <p:nvPr>
            <p:ph type="body" idx="3"/>
          </p:nvPr>
        </p:nvSpPr>
        <p:spPr>
          <a:xfrm>
            <a:off x="6525014" y="2340864"/>
            <a:ext cx="4443984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23"/>
          <p:cNvSpPr txBox="1">
            <a:spLocks noGrp="1"/>
          </p:cNvSpPr>
          <p:nvPr>
            <p:ph type="body" idx="4"/>
          </p:nvPr>
        </p:nvSpPr>
        <p:spPr>
          <a:xfrm>
            <a:off x="6525014" y="3305207"/>
            <a:ext cx="4443984" cy="2562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>
                <a:solidFill>
                  <a:schemeClr val="dk2"/>
                </a:solidFill>
              </a:defRPr>
            </a:lvl1pPr>
            <a:lvl2pPr marL="914400" lvl="1" indent="-355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solidFill>
                  <a:schemeClr val="dk2"/>
                </a:solidFill>
              </a:defRPr>
            </a:lvl2pPr>
            <a:lvl3pPr marL="1371600" lvl="2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marL="1828800" lvl="3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4pPr>
            <a:lvl5pPr marL="2286000" lvl="4" indent="-330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marL="3657600" lvl="7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23"/>
          <p:cNvSpPr txBox="1">
            <a:spLocks noGrp="1"/>
          </p:cNvSpPr>
          <p:nvPr>
            <p:ph type="dt" idx="10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ftr" idx="11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sldNum" idx="12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4"/>
          <p:cNvSpPr txBox="1">
            <a:spLocks noGrp="1"/>
          </p:cNvSpPr>
          <p:nvPr>
            <p:ph type="dt" idx="10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4"/>
          <p:cNvSpPr txBox="1">
            <a:spLocks noGrp="1"/>
          </p:cNvSpPr>
          <p:nvPr>
            <p:ph type="ftr" idx="11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4"/>
          <p:cNvSpPr txBox="1">
            <a:spLocks noGrp="1"/>
          </p:cNvSpPr>
          <p:nvPr>
            <p:ph type="sldNum" idx="12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5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25"/>
          <p:cNvSpPr txBox="1"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Libre Franklin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5"/>
          <p:cNvSpPr txBox="1">
            <a:spLocks noGrp="1"/>
          </p:cNvSpPr>
          <p:nvPr>
            <p:ph type="body" idx="1"/>
          </p:nvPr>
        </p:nvSpPr>
        <p:spPr>
          <a:xfrm>
            <a:off x="6256020" y="685801"/>
            <a:ext cx="5212080" cy="5175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 sz="2000"/>
            </a:lvl1pPr>
            <a:lvl2pPr marL="914400" lvl="1" indent="-355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/>
            </a:lvl3pPr>
            <a:lvl4pPr marL="1828800" lvl="3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 sz="1800"/>
            </a:lvl4pPr>
            <a:lvl5pPr marL="2286000" lvl="4" indent="-330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/>
            </a:lvl5pPr>
            <a:lvl6pPr marL="2743200" lvl="5" indent="-330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–"/>
              <a:defRPr sz="1600"/>
            </a:lvl6pPr>
            <a:lvl7pPr marL="3200400" lvl="6" indent="-330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/>
            </a:lvl7pPr>
            <a:lvl8pPr marL="3657600" lvl="7" indent="-330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–"/>
              <a:defRPr sz="1600"/>
            </a:lvl8pPr>
            <a:lvl9pPr marL="4114800" lvl="8" indent="-3302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body" idx="2"/>
          </p:nvPr>
        </p:nvSpPr>
        <p:spPr>
          <a:xfrm>
            <a:off x="723900" y="2856344"/>
            <a:ext cx="3855720" cy="3011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4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8" name="Google Shape;68;p25"/>
          <p:cNvSpPr txBox="1">
            <a:spLocks noGrp="1"/>
          </p:cNvSpPr>
          <p:nvPr>
            <p:ph type="dt" idx="10"/>
          </p:nvPr>
        </p:nvSpPr>
        <p:spPr>
          <a:xfrm>
            <a:off x="72390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5"/>
          <p:cNvSpPr txBox="1">
            <a:spLocks noGrp="1"/>
          </p:cNvSpPr>
          <p:nvPr>
            <p:ph type="ftr" idx="11"/>
          </p:nvPr>
        </p:nvSpPr>
        <p:spPr>
          <a:xfrm>
            <a:off x="2205945" y="6453386"/>
            <a:ext cx="2373675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sldNum" idx="12"/>
          </p:nvPr>
        </p:nvSpPr>
        <p:spPr>
          <a:xfrm>
            <a:off x="9883140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" name="Google Shape;71;p25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6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26"/>
          <p:cNvSpPr txBox="1"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Libre Franklin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6"/>
          <p:cNvSpPr>
            <a:spLocks noGrp="1"/>
          </p:cNvSpPr>
          <p:nvPr>
            <p:ph type="pic" idx="2"/>
          </p:nvPr>
        </p:nvSpPr>
        <p:spPr>
          <a:xfrm>
            <a:off x="5532120" y="0"/>
            <a:ext cx="6659880" cy="6857999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26"/>
          <p:cNvSpPr txBox="1">
            <a:spLocks noGrp="1"/>
          </p:cNvSpPr>
          <p:nvPr>
            <p:ph type="body" idx="1"/>
          </p:nvPr>
        </p:nvSpPr>
        <p:spPr>
          <a:xfrm>
            <a:off x="723900" y="2855968"/>
            <a:ext cx="3855720" cy="3011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4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72390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2205945" y="6453386"/>
            <a:ext cx="2373675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9883140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" name="Google Shape;80;p26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"/>
          <p:cNvSpPr txBox="1"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body" idx="1"/>
          </p:nvPr>
        </p:nvSpPr>
        <p:spPr>
          <a:xfrm rot="5400000">
            <a:off x="4386263" y="-719137"/>
            <a:ext cx="3571875" cy="96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1pPr>
            <a:lvl2pPr marL="914400" lvl="1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3pPr>
            <a:lvl4pPr marL="1828800" lvl="3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5pPr>
            <a:lvl6pPr marL="2743200" lvl="5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marL="3657600" lvl="7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dt" idx="10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ftr" idx="11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sldNum" idx="12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8"/>
          <p:cNvSpPr txBox="1">
            <a:spLocks noGrp="1"/>
          </p:cNvSpPr>
          <p:nvPr>
            <p:ph type="title"/>
          </p:nvPr>
        </p:nvSpPr>
        <p:spPr>
          <a:xfrm rot="5400000">
            <a:off x="7757822" y="2462895"/>
            <a:ext cx="5243244" cy="1565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8"/>
          <p:cNvSpPr txBox="1">
            <a:spLocks noGrp="1"/>
          </p:cNvSpPr>
          <p:nvPr>
            <p:ph type="body" idx="1"/>
          </p:nvPr>
        </p:nvSpPr>
        <p:spPr>
          <a:xfrm rot="5400000">
            <a:off x="2839799" y="-844042"/>
            <a:ext cx="5243244" cy="8179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1pPr>
            <a:lvl2pPr marL="914400" lvl="1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3pPr>
            <a:lvl4pPr marL="1828800" lvl="3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5pPr>
            <a:lvl6pPr marL="2743200" lvl="5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marL="3657600" lvl="7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90" name="Google Shape;90;p28"/>
          <p:cNvSpPr txBox="1">
            <a:spLocks noGrp="1"/>
          </p:cNvSpPr>
          <p:nvPr>
            <p:ph type="dt" idx="10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8"/>
          <p:cNvSpPr txBox="1">
            <a:spLocks noGrp="1"/>
          </p:cNvSpPr>
          <p:nvPr>
            <p:ph type="ftr" idx="11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8"/>
          <p:cNvSpPr txBox="1">
            <a:spLocks noGrp="1"/>
          </p:cNvSpPr>
          <p:nvPr>
            <p:ph type="sldNum" idx="12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  <a:defRPr sz="44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Libre Franklin"/>
              <a:buChar char="■"/>
              <a:defRPr sz="2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55600" algn="l" rtl="0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Libre Franklin"/>
              <a:buChar char="–"/>
              <a:defRPr sz="2000" b="0" i="1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42900" algn="l" rtl="0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Char char="■"/>
              <a:defRPr sz="18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42900" algn="l" rtl="0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Char char="–"/>
              <a:defRPr sz="1800" b="0" i="1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30200" algn="l" rtl="0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ibre Franklin"/>
              <a:buChar char="■"/>
              <a:defRPr sz="16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30200" algn="l" rtl="0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ibre Franklin"/>
              <a:buChar char="–"/>
              <a:defRPr sz="1600" b="0" i="1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17500" algn="l" rtl="0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ibre Franklin"/>
              <a:buChar char="■"/>
              <a:defRPr sz="14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17500" algn="l" rtl="0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ibre Franklin"/>
              <a:buChar char="–"/>
              <a:defRPr sz="1400" b="0" i="1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17500" algn="l" rtl="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400"/>
              <a:buFont typeface="Libre Franklin"/>
              <a:buChar char="■"/>
              <a:defRPr sz="14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17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368">
          <p15:clr>
            <a:srgbClr val="F26B43"/>
          </p15:clr>
        </p15:guide>
        <p15:guide id="2" orient="horz" pos="1440">
          <p15:clr>
            <a:srgbClr val="F26B43"/>
          </p15:clr>
        </p15:guide>
        <p15:guide id="3" orient="horz" pos="3696">
          <p15:clr>
            <a:srgbClr val="F26B43"/>
          </p15:clr>
        </p15:guide>
        <p15:guide id="4" orient="horz" pos="432">
          <p15:clr>
            <a:srgbClr val="F26B43"/>
          </p15:clr>
        </p15:guide>
        <p15:guide id="5" orient="horz" pos="1512">
          <p15:clr>
            <a:srgbClr val="F26B43"/>
          </p15:clr>
        </p15:guide>
        <p15:guide id="6" pos="6912">
          <p15:clr>
            <a:srgbClr val="F26B43"/>
          </p15:clr>
        </p15:guide>
        <p15:guide id="7" pos="936">
          <p15:clr>
            <a:srgbClr val="F26B43"/>
          </p15:clr>
        </p15:guide>
        <p15:guide id="8" pos="864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43737" y="220134"/>
            <a:ext cx="2986263" cy="937474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"/>
          <p:cNvSpPr txBox="1"/>
          <p:nvPr/>
        </p:nvSpPr>
        <p:spPr>
          <a:xfrm>
            <a:off x="1231900" y="1507067"/>
            <a:ext cx="9791700" cy="39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2000" b="0">
                <a:latin typeface="Times New Roman"/>
              </a:defRPr>
            </a:pPr>
            <a:r>
              <a:t>AI-POWERED HEALTHCARE &amp; MACHINE LEARNING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defRPr sz="2400" b="1">
                <a:latin typeface="Times New Roman"/>
              </a:defRPr>
            </a:pPr>
            <a:r>
              <a:t>DIABETES RISK ASSESSMENT &amp; PREDICTION AI</a:t>
            </a:r>
          </a:p>
          <a:p/>
          <a:p/>
          <a:p>
            <a:pPr>
              <a:defRPr sz="1600">
                <a:latin typeface="Times New Roman"/>
              </a:defRPr>
            </a:pPr>
            <a:r>
              <a:t>       REVIEW NO : 0                          07.08.2026                        BATCH NO: 02</a:t>
            </a:r>
          </a:p>
          <a:p/>
          <a:p/>
          <a:p/>
          <a:p/>
          <a:p>
            <a:pPr>
              <a:defRPr sz="1600" b="1">
                <a:latin typeface="Times New Roman"/>
              </a:defRPr>
            </a:pPr>
            <a:r>
              <a:t>      PRESENTED BY:</a:t>
            </a:r>
          </a:p>
          <a:p>
            <a:pPr>
              <a:defRPr sz="1600">
                <a:latin typeface="Times New Roman"/>
              </a:defRPr>
            </a:pPr>
            <a:r>
              <a:t>      KESHAVSN R</a:t>
            </a:r>
          </a:p>
          <a:p>
            <a:pPr>
              <a:defRPr sz="1600">
                <a:latin typeface="Times New Roman"/>
              </a:defRPr>
            </a:pPr>
            <a:r>
              <a:t>      JAYADEV RAJA SV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 txBox="1"/>
          <p:nvPr/>
        </p:nvSpPr>
        <p:spPr>
          <a:xfrm flipH="1">
            <a:off x="1651000" y="1803400"/>
            <a:ext cx="10278532" cy="3268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sz="1800" b="0">
                <a:latin typeface="Times New Roman"/>
              </a:rPr>
              <a:t>Automate early diabetes risk assessment using </a:t>
            </a:r>
            <a:r>
              <a:rPr sz="1800" b="1">
                <a:latin typeface="Times New Roman"/>
              </a:rPr>
              <a:t>Machine Learning classification.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endParaRPr/>
          </a:p>
          <a:p>
            <a:r>
              <a:rPr sz="1800" b="0">
                <a:latin typeface="Times New Roman"/>
              </a:rPr>
              <a:t>Predict patient risk status based on 8 core </a:t>
            </a:r>
            <a:r>
              <a:rPr sz="1800" b="1">
                <a:latin typeface="Times New Roman"/>
              </a:rPr>
              <a:t>biomedical metrics (Glucose, BMI, Age, etc.).</a:t>
            </a:r>
          </a:p>
          <a:p>
            <a:r>
              <a:rPr sz="1800" b="0">
                <a:latin typeface="Times New Roman"/>
              </a:rPr>
              <a:t>Deliver a modern </a:t>
            </a:r>
            <a:r>
              <a:rPr sz="1800" b="1">
                <a:latin typeface="Times New Roman"/>
              </a:rPr>
              <a:t>glassmorphism web UI</a:t>
            </a:r>
            <a:r>
              <a:rPr sz="1800" b="0">
                <a:latin typeface="Times New Roman"/>
              </a:rPr>
              <a:t> with real-time confidence scoring.</a:t>
            </a:r>
          </a:p>
          <a:p>
            <a:r>
              <a:rPr sz="1800" b="0">
                <a:latin typeface="Times New Roman"/>
              </a:rPr>
              <a:t>Eliminate complex manual risk calculations with </a:t>
            </a:r>
            <a:r>
              <a:rPr sz="1800" b="1">
                <a:latin typeface="Times New Roman"/>
              </a:rPr>
              <a:t>instant automated diagnosis.</a:t>
            </a:r>
          </a:p>
          <a:p>
            <a:r>
              <a:rPr sz="1800" b="0">
                <a:latin typeface="Times New Roman"/>
              </a:rPr>
              <a:t>Provide </a:t>
            </a:r>
            <a:r>
              <a:rPr sz="1800" b="1">
                <a:latin typeface="Times New Roman"/>
              </a:rPr>
              <a:t>live input validation</a:t>
            </a:r>
            <a:r>
              <a:rPr sz="1800" b="0">
                <a:latin typeface="Times New Roman"/>
              </a:rPr>
              <a:t>, keyboard shortcuts, and dual light/dark theme.</a:t>
            </a:r>
          </a:p>
          <a:p>
            <a:r>
              <a:rPr sz="1800" b="0">
                <a:latin typeface="Times New Roman"/>
              </a:rPr>
              <a:t>Maintain </a:t>
            </a:r>
            <a:r>
              <a:rPr sz="1800" b="1">
                <a:latin typeface="Times New Roman"/>
              </a:rPr>
              <a:t>digital logging</a:t>
            </a:r>
            <a:r>
              <a:rPr sz="1800" b="0">
                <a:latin typeface="Times New Roman"/>
              </a:rPr>
              <a:t> of diagnostic evaluations for efficient record keeping.</a:t>
            </a:r>
          </a:p>
          <a:p>
            <a:r>
              <a:rPr sz="1800" b="0">
                <a:latin typeface="Times New Roman"/>
              </a:rPr>
              <a:t>Empower healthcare practitioners and patients with </a:t>
            </a:r>
            <a:r>
              <a:rPr sz="1800" b="1">
                <a:latin typeface="Times New Roman"/>
              </a:rPr>
              <a:t>accessible preventative health insights.</a:t>
            </a:r>
          </a:p>
        </p:txBody>
      </p:sp>
      <p:sp>
        <p:nvSpPr>
          <p:cNvPr id="104" name="Google Shape;104;p2"/>
          <p:cNvSpPr txBox="1"/>
          <p:nvPr/>
        </p:nvSpPr>
        <p:spPr>
          <a:xfrm>
            <a:off x="3141135" y="855133"/>
            <a:ext cx="572346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3200" b="1">
                <a:latin typeface="Times New Roman"/>
              </a:defRPr>
            </a:pPr>
            <a:r>
              <a:t>OBJECTIVE</a:t>
            </a:r>
            <a:endParaRPr sz="32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/>
        </p:nvSpPr>
        <p:spPr>
          <a:xfrm>
            <a:off x="2362200" y="2395154"/>
            <a:ext cx="8830733" cy="3139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sz="1800" b="0">
                <a:latin typeface="Times New Roman"/>
              </a:rPr>
              <a:t>The </a:t>
            </a:r>
            <a:r>
              <a:rPr sz="1800" b="1">
                <a:latin typeface="Times New Roman"/>
              </a:rPr>
              <a:t>Diabetes Risk Assessment &amp; Prediction AI</a:t>
            </a:r>
            <a:r>
              <a:rPr sz="1800" b="0">
                <a:latin typeface="Times New Roman"/>
              </a:rPr>
              <a:t> is a full-stack machine learning web application that automates early diabetes detection. It replaces static paper clinical forms with an intelligent, data-driven diagnostic workflow. Users enter 8 standardized health parameters, and the system instantly evaluates diabetes risk probability.</a:t>
            </a:r>
            <a:endParaRPr/>
          </a:p>
          <a:p>
            <a:pPr marL="2857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>
              <a:defRPr sz="1400" b="0">
                <a:latin typeface="Times New Roman"/>
              </a:defRPr>
            </a:pPr>
          </a:p>
          <a:p>
            <a:r>
              <a:rPr sz="1800" b="0">
                <a:latin typeface="Times New Roman"/>
              </a:rPr>
              <a:t>Developed using </a:t>
            </a:r>
            <a:r>
              <a:rPr sz="1800" b="1">
                <a:latin typeface="Times New Roman"/>
              </a:rPr>
              <a:t>Python (Flask API), scikit-learn (Logistic Regression with StandardScaler), HTML5, CSS3 (Glassmorphism UI), and JavaScript (ES6 Fetch API)</a:t>
            </a:r>
            <a:r>
              <a:rPr sz="1800" b="0">
                <a:latin typeface="Times New Roman"/>
              </a:rPr>
              <a:t>. The system delivers real-time confidence scores, visual risk indicators, and a seamless user experience across desktop and mobile devices.</a:t>
            </a:r>
          </a:p>
        </p:txBody>
      </p:sp>
      <p:sp>
        <p:nvSpPr>
          <p:cNvPr id="110" name="Google Shape;110;p3"/>
          <p:cNvSpPr txBox="1"/>
          <p:nvPr/>
        </p:nvSpPr>
        <p:spPr>
          <a:xfrm>
            <a:off x="2362200" y="211667"/>
            <a:ext cx="7569200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3200" b="1">
                <a:latin typeface="Times New Roman"/>
              </a:defRPr>
            </a:pPr>
            <a:r>
              <a:t>PROJECT DESCRIPTION</a:t>
            </a:r>
            <a:endParaRPr sz="1800" b="1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/>
          <p:nvPr/>
        </p:nvSpPr>
        <p:spPr>
          <a:xfrm>
            <a:off x="1617134" y="2294467"/>
            <a:ext cx="9618000" cy="17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sz="1800" b="0">
                <a:latin typeface="Times New Roman"/>
              </a:rPr>
              <a:t>In traditional healthcare setups, diabetes risk evaluation relies heavily on </a:t>
            </a:r>
            <a:r>
              <a:rPr sz="1800" b="1">
                <a:latin typeface="Times New Roman"/>
              </a:rPr>
              <a:t>manual blood lab result analysis, physical patient charts, and static paper forms</a:t>
            </a:r>
            <a:r>
              <a:rPr sz="1800" b="0">
                <a:latin typeface="Times New Roman"/>
              </a:rPr>
              <a:t>. Clinical data is recorded manually across paper files or basic spreadsheets, making rapid preliminary screening difficult for large patient populations. This manual approach often leads to </a:t>
            </a:r>
            <a:r>
              <a:rPr sz="1800" b="1">
                <a:latin typeface="Times New Roman"/>
              </a:rPr>
              <a:t>human evaluation errors, delayed risk reporting, and inconsistent workload distribution</a:t>
            </a:r>
            <a:r>
              <a:rPr sz="1800" b="0">
                <a:latin typeface="Times New Roman"/>
              </a:rPr>
              <a:t> among medical staff. Re-evaluating updated patient health metrics requires manual recalculation, causing delays and confusion during preliminary health checkups.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4"/>
          <p:cNvSpPr txBox="1"/>
          <p:nvPr/>
        </p:nvSpPr>
        <p:spPr>
          <a:xfrm>
            <a:off x="3429001" y="939800"/>
            <a:ext cx="5058834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3200" b="1">
                <a:latin typeface="Times New Roman"/>
              </a:defRPr>
            </a:pPr>
            <a:r>
              <a:t>EXISTING PROJECT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 txBox="1"/>
          <p:nvPr/>
        </p:nvSpPr>
        <p:spPr>
          <a:xfrm>
            <a:off x="1464732" y="2142066"/>
            <a:ext cx="10176934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sz="1800" b="0">
                <a:latin typeface="Times New Roman"/>
              </a:rPr>
              <a:t>Diabetes mellitus is a silent chronic metabolic disorder that frequently remains undetected until advanced complications arise. Traditional diagnostic workflows require doctors to manually correlate multiple interdependent metrics (such as </a:t>
            </a:r>
            <a:r>
              <a:rPr sz="1800" b="1">
                <a:latin typeface="Times New Roman"/>
              </a:rPr>
              <a:t>glucose, blood pressure, skin fold thickness, and genetic pedigree</a:t>
            </a:r>
            <a:r>
              <a:rPr sz="1800" b="0">
                <a:latin typeface="Times New Roman"/>
              </a:rPr>
              <a:t>), which is time-consuming and prone to subjective error.</a:t>
            </a:r>
            <a:endParaRPr/>
          </a:p>
          <a:p>
            <a:pPr marL="2857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endParaRPr/>
          </a:p>
          <a:p>
            <a:pPr marL="2857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endParaRPr/>
          </a:p>
          <a:p>
            <a:pPr>
              <a:defRPr sz="1400" b="0">
                <a:latin typeface="Times New Roman"/>
              </a:defRPr>
            </a:pPr>
          </a:p>
          <a:p>
            <a:r>
              <a:rPr sz="1800" b="0">
                <a:latin typeface="Times New Roman"/>
              </a:rPr>
              <a:t>The absence of an automated, accessible screening platform results in </a:t>
            </a:r>
            <a:r>
              <a:rPr sz="1800" b="1">
                <a:latin typeface="Times New Roman"/>
              </a:rPr>
              <a:t>diagnostic delays, reduced screening capacity, and heightened workload</a:t>
            </a:r>
            <a:r>
              <a:rPr sz="1800" b="0">
                <a:latin typeface="Times New Roman"/>
              </a:rPr>
              <a:t> for healthcare staff during routine check-ups. Therefore, there is a critical need for an intelligent computerized system that can instantly process patient data, calculate risk probabilities, and present actionable insights.</a:t>
            </a:r>
          </a:p>
          <a:p>
            <a:pPr>
              <a:defRPr sz="1400" b="0">
                <a:latin typeface="Times New Roman"/>
              </a:defRPr>
            </a:pPr>
          </a:p>
          <a:p>
            <a:r>
              <a:rPr sz="1800" b="0">
                <a:latin typeface="Times New Roman"/>
              </a:rPr>
              <a:t>The proposed </a:t>
            </a:r>
            <a:r>
              <a:rPr sz="1800" b="1">
                <a:latin typeface="Times New Roman"/>
              </a:rPr>
              <a:t>DiabetesAI Web Application</a:t>
            </a:r>
            <a:r>
              <a:rPr sz="1800" b="0">
                <a:latin typeface="Times New Roman"/>
              </a:rPr>
              <a:t> solves these challenges by providing an automated, highly reliable, and accessible platform to streamline preliminary diabetes risk assessment.</a:t>
            </a:r>
          </a:p>
        </p:txBody>
      </p:sp>
      <p:sp>
        <p:nvSpPr>
          <p:cNvPr id="134" name="Google Shape;134;p7"/>
          <p:cNvSpPr txBox="1"/>
          <p:nvPr/>
        </p:nvSpPr>
        <p:spPr>
          <a:xfrm>
            <a:off x="2861733" y="877723"/>
            <a:ext cx="729826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3200" b="1">
                <a:latin typeface="Times New Roman"/>
              </a:defRPr>
            </a:pPr>
            <a:r>
              <a:t>PROBLEM DEFINITION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 txBox="1"/>
          <p:nvPr/>
        </p:nvSpPr>
        <p:spPr>
          <a:xfrm>
            <a:off x="1024467" y="1244599"/>
            <a:ext cx="10795000" cy="5355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latin typeface="Times New Roman"/>
              </a:rPr>
              <a:t>The proposed </a:t>
            </a:r>
            <a:r>
              <a:rPr sz="1800" b="1">
                <a:latin typeface="Times New Roman"/>
              </a:rPr>
              <a:t>DiabetesAI</a:t>
            </a:r>
            <a:r>
              <a:rPr sz="1800" b="0">
                <a:latin typeface="Times New Roman"/>
              </a:rPr>
              <a:t> is a machine-learning-driven web application designed to simplify and accelerate early diabetes risk assessment. Unlike traditional manual evaluation, users submit patient health parameters via a web form, and the system automatically outputs a precise risk classification with a confidence score.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endParaRPr/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endParaRPr/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endParaRPr/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endParaRPr/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>
              <a:defRPr sz="1400" b="0">
                <a:latin typeface="Times New Roman"/>
              </a:defRPr>
            </a:pPr>
          </a:p>
          <a:p>
            <a:r>
              <a:rPr sz="1800" b="0">
                <a:latin typeface="Times New Roman"/>
              </a:rPr>
              <a:t>The system utilizes a </a:t>
            </a:r>
            <a:r>
              <a:rPr sz="1800" b="1">
                <a:latin typeface="Times New Roman"/>
              </a:rPr>
              <a:t>Logistic Regression model trained on the Pima Indians Diabetes Dataset</a:t>
            </a:r>
            <a:r>
              <a:rPr sz="1800" b="0">
                <a:latin typeface="Times New Roman"/>
              </a:rPr>
              <a:t>, paired with a </a:t>
            </a:r>
            <a:r>
              <a:rPr sz="1800" b="1">
                <a:latin typeface="Times New Roman"/>
              </a:rPr>
              <a:t>StandardScaler pipeline</a:t>
            </a:r>
            <a:r>
              <a:rPr sz="1800" b="0">
                <a:latin typeface="Times New Roman"/>
              </a:rPr>
              <a:t> to ensure normalized feature processing and high inference accuracy.</a:t>
            </a:r>
          </a:p>
          <a:p>
            <a:pPr>
              <a:defRPr sz="1400" b="0">
                <a:latin typeface="Times New Roman"/>
              </a:defRPr>
            </a:pPr>
          </a:p>
          <a:p>
            <a:pPr>
              <a:defRPr sz="1800" b="1">
                <a:latin typeface="Times New Roman"/>
              </a:defRPr>
            </a:pPr>
            <a:r>
              <a:t>Key features of the proposed system include:</a:t>
            </a:r>
          </a:p>
          <a:p>
            <a:pPr>
              <a:defRPr sz="1800" b="0">
                <a:latin typeface="Times New Roman"/>
              </a:defRPr>
            </a:pPr>
            <a:r>
              <a:t>• Automated ML risk prediction with probability scoring.</a:t>
            </a:r>
          </a:p>
          <a:p>
            <a:pPr>
              <a:defRPr sz="1800" b="0">
                <a:latin typeface="Times New Roman"/>
              </a:defRPr>
            </a:pPr>
            <a:r>
              <a:t>• StandardScaler feature normalization for reliable accuracy.</a:t>
            </a:r>
          </a:p>
          <a:p>
            <a:pPr>
              <a:defRPr sz="1800" b="0">
                <a:latin typeface="Times New Roman"/>
              </a:defRPr>
            </a:pPr>
            <a:r>
              <a:t>• Interactive Glassmorphism UI with live input validation.</a:t>
            </a:r>
          </a:p>
          <a:p>
            <a:pPr>
              <a:defRPr sz="1800" b="0">
                <a:latin typeface="Times New Roman"/>
              </a:defRPr>
            </a:pPr>
            <a:r>
              <a:t>• Real-time light/dark theme toggle and animated result indicators.</a:t>
            </a:r>
          </a:p>
          <a:p>
            <a:pPr>
              <a:defRPr sz="1800" b="0">
                <a:latin typeface="Times New Roman"/>
              </a:defRPr>
            </a:pPr>
            <a:r>
              <a:t>• Lightweight RESTful Flask API backend with CORS support.</a:t>
            </a:r>
          </a:p>
          <a:p>
            <a:pPr>
              <a:defRPr sz="1400" b="0">
                <a:latin typeface="Times New Roman"/>
              </a:defRPr>
            </a:pPr>
          </a:p>
          <a:p>
            <a:r>
              <a:rPr sz="1800" b="0">
                <a:latin typeface="Times New Roman"/>
              </a:rPr>
              <a:t>Thus, the proposed system enhances </a:t>
            </a:r>
            <a:r>
              <a:rPr sz="1800" b="1">
                <a:latin typeface="Times New Roman"/>
              </a:rPr>
              <a:t>accuracy, efficiency, and diagnostic reliability</a:t>
            </a:r>
            <a:r>
              <a:rPr sz="1800" b="0">
                <a:latin typeface="Times New Roman"/>
              </a:rPr>
              <a:t> in healthcare management while reducing administrative effort.</a:t>
            </a:r>
          </a:p>
        </p:txBody>
      </p:sp>
      <p:sp>
        <p:nvSpPr>
          <p:cNvPr id="140" name="Google Shape;140;p8"/>
          <p:cNvSpPr txBox="1"/>
          <p:nvPr/>
        </p:nvSpPr>
        <p:spPr>
          <a:xfrm>
            <a:off x="956733" y="347133"/>
            <a:ext cx="1098126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3200" b="1">
                <a:latin typeface="Times New Roman"/>
              </a:defRPr>
            </a:pPr>
            <a:r>
              <a:t>PROPOSED SYSTEM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 txBox="1"/>
          <p:nvPr/>
        </p:nvSpPr>
        <p:spPr>
          <a:xfrm>
            <a:off x="1202266" y="2074333"/>
            <a:ext cx="10380133" cy="3139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sz="1800" b="1">
                <a:latin typeface="Times New Roman"/>
              </a:rPr>
              <a:t>Hardware &amp; Software Requirements: </a:t>
            </a:r>
            <a:r>
              <a:rPr sz="1800" b="0">
                <a:latin typeface="Times New Roman"/>
              </a:rPr>
              <a:t>The system runs on an </a:t>
            </a:r>
            <a:r>
              <a:rPr sz="1800" b="1">
                <a:latin typeface="Times New Roman"/>
              </a:rPr>
              <a:t>Intel Core i3 processor, 4 GB RAM, and 250 GB storage</a:t>
            </a:r>
            <a:r>
              <a:rPr sz="1800" b="0">
                <a:latin typeface="Times New Roman"/>
              </a:rPr>
              <a:t>. It operates on Windows or Linux OS using </a:t>
            </a:r>
            <a:r>
              <a:rPr sz="1800" b="1">
                <a:latin typeface="Times New Roman"/>
              </a:rPr>
              <a:t>Python 3.8+ (Flask, scikit-learn, joblib, NumPy, Pandas, Flask-CORS)</a:t>
            </a:r>
            <a:r>
              <a:rPr sz="1800" b="0">
                <a:latin typeface="Times New Roman"/>
              </a:rPr>
              <a:t> for backend logic and </a:t>
            </a:r>
            <a:r>
              <a:rPr sz="1800" b="1">
                <a:latin typeface="Times New Roman"/>
              </a:rPr>
              <a:t>HTML5, CSS3, and JavaScript</a:t>
            </a:r>
            <a:r>
              <a:rPr sz="1800" b="0">
                <a:latin typeface="Times New Roman"/>
              </a:rPr>
              <a:t> for frontend UI, accessible via Chrome, Edge, or Firefox.</a:t>
            </a:r>
            <a:endParaRPr/>
          </a:p>
          <a:p>
            <a:pPr marL="2857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endParaRPr/>
          </a:p>
          <a:p>
            <a:pPr>
              <a:defRPr sz="1400" b="0">
                <a:latin typeface="Times New Roman"/>
              </a:defRPr>
            </a:pPr>
          </a:p>
          <a:p>
            <a:r>
              <a:rPr sz="1800" b="1">
                <a:latin typeface="Times New Roman"/>
              </a:rPr>
              <a:t>Functional &amp; Non-Functional: </a:t>
            </a:r>
            <a:r>
              <a:rPr sz="1800" b="0">
                <a:latin typeface="Times New Roman"/>
              </a:rPr>
              <a:t>Functionally, the system validates 8 patient metrics, applies StandardScaler normalization, executes model prediction, returns JSON API response, and animates UI cards. Non-functionally, it ensures </a:t>
            </a:r>
            <a:r>
              <a:rPr sz="1800" b="1">
                <a:latin typeface="Times New Roman"/>
              </a:rPr>
              <a:t>sub-second response (&lt;100ms), frosted-glass UI elegance, intuitive error handling, and high reliability.</a:t>
            </a:r>
          </a:p>
        </p:txBody>
      </p:sp>
      <p:sp>
        <p:nvSpPr>
          <p:cNvPr id="146" name="Google Shape;146;p9"/>
          <p:cNvSpPr txBox="1"/>
          <p:nvPr/>
        </p:nvSpPr>
        <p:spPr>
          <a:xfrm>
            <a:off x="3098799" y="973667"/>
            <a:ext cx="707813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3200" b="1">
                <a:latin typeface="Times New Roman"/>
              </a:defRPr>
            </a:pPr>
            <a:r>
              <a:t>REQUIREMENT SPECIFICATION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"/>
          <p:cNvSpPr txBox="1"/>
          <p:nvPr/>
        </p:nvSpPr>
        <p:spPr>
          <a:xfrm>
            <a:off x="3321934" y="798653"/>
            <a:ext cx="802125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3200" b="1">
                <a:latin typeface="Times New Roman"/>
              </a:defRPr>
            </a:pPr>
            <a:r>
              <a:t>ARCHITECTURE DIAGRAM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2" name="Picture 151" descr="architecture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5722" y="1653251"/>
            <a:ext cx="7060556" cy="47070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"/>
          <p:cNvSpPr txBox="1"/>
          <p:nvPr/>
        </p:nvSpPr>
        <p:spPr>
          <a:xfrm>
            <a:off x="1507067" y="2136338"/>
            <a:ext cx="10388600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latin typeface="Times New Roman"/>
              </a:rPr>
              <a:t>The </a:t>
            </a:r>
            <a:r>
              <a:rPr sz="1800" b="1">
                <a:latin typeface="Times New Roman"/>
              </a:rPr>
              <a:t>Diabetes Risk Assessment Web Application</a:t>
            </a:r>
            <a:r>
              <a:rPr sz="1800" b="0">
                <a:latin typeface="Times New Roman"/>
              </a:rPr>
              <a:t> consists of three core integrated modules: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endParaRPr/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endParaRPr/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>
              <a:defRPr sz="1400" b="0">
                <a:latin typeface="Times New Roman"/>
              </a:defRPr>
            </a:pPr>
          </a:p>
          <a:p>
            <a:r>
              <a:rPr sz="1800" b="0">
                <a:latin typeface="Times New Roman"/>
              </a:rPr>
              <a:t>• </a:t>
            </a:r>
            <a:r>
              <a:rPr sz="1800" b="1">
                <a:latin typeface="Times New Roman"/>
              </a:rPr>
              <a:t>ML &amp; Training Module</a:t>
            </a:r>
            <a:r>
              <a:rPr sz="1800" b="0">
                <a:latin typeface="Times New Roman"/>
              </a:rPr>
              <a:t>: Preprocesses dataset, trains Logistic Regression model, fits StandardScaler, and exports binary artifacts (diabetes_model.pkl, scaler.pkl).</a:t>
            </a:r>
          </a:p>
          <a:p>
            <a:r>
              <a:rPr sz="1800" b="0">
                <a:latin typeface="Times New Roman"/>
              </a:rPr>
              <a:t>• </a:t>
            </a:r>
            <a:r>
              <a:rPr sz="1800" b="1">
                <a:latin typeface="Times New Roman"/>
              </a:rPr>
              <a:t>Flask API Backend Module</a:t>
            </a:r>
            <a:r>
              <a:rPr sz="1800" b="0">
                <a:latin typeface="Times New Roman"/>
              </a:rPr>
              <a:t>: Serves HTTP REST endpoints (/predict and /health), parses input JSON payloads, formats NumPy arrays, and executes model inference.</a:t>
            </a:r>
          </a:p>
          <a:p>
            <a:r>
              <a:rPr sz="1800" b="0">
                <a:latin typeface="Times New Roman"/>
              </a:rPr>
              <a:t>• </a:t>
            </a:r>
            <a:r>
              <a:rPr sz="1800" b="1">
                <a:latin typeface="Times New Roman"/>
              </a:rPr>
              <a:t>Interactive Frontend Module</a:t>
            </a:r>
            <a:r>
              <a:rPr sz="1800" b="0">
                <a:latin typeface="Times New Roman"/>
              </a:rPr>
              <a:t>: Renders glassmorphism UI, handles live input validation, executes async Fetch API calls, and animates results.</a:t>
            </a:r>
          </a:p>
          <a:p>
            <a:pPr>
              <a:defRPr sz="1400" b="0">
                <a:latin typeface="Times New Roman"/>
              </a:defRPr>
            </a:pPr>
          </a:p>
          <a:p>
            <a:pPr>
              <a:defRPr sz="1800" b="0">
                <a:latin typeface="Times New Roman"/>
              </a:defRPr>
            </a:pPr>
            <a:r>
              <a:t>This modular separation ensures clean architecture, rapid inference execution, and effortless maintenance.</a:t>
            </a:r>
          </a:p>
        </p:txBody>
      </p:sp>
      <p:sp>
        <p:nvSpPr>
          <p:cNvPr id="158" name="Google Shape;158;p11"/>
          <p:cNvSpPr txBox="1"/>
          <p:nvPr/>
        </p:nvSpPr>
        <p:spPr>
          <a:xfrm>
            <a:off x="1109133" y="745067"/>
            <a:ext cx="105156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3200" b="1">
                <a:latin typeface="Times New Roman"/>
              </a:defRPr>
            </a:pPr>
            <a:r>
              <a:t>MODULE DESCRIPTION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"/>
          <p:cNvSpPr txBox="1"/>
          <p:nvPr/>
        </p:nvSpPr>
        <p:spPr>
          <a:xfrm>
            <a:off x="1435260" y="1942725"/>
            <a:ext cx="9385139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>
                <a:latin typeface="Times New Roman"/>
              </a:defRPr>
            </a:pPr>
            <a:r>
              <a:t>scikit-learn Documentation - Official Scikit-learn Machine Learning Library</a:t>
            </a:r>
            <a:endParaRPr/>
          </a:p>
          <a:p>
            <a:pPr marL="2857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endParaRPr/>
          </a:p>
          <a:p>
            <a:pPr marL="2857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endParaRPr/>
          </a:p>
          <a:p>
            <a:pPr marL="2857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endParaRPr/>
          </a:p>
          <a:p>
            <a:pPr marL="2857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endParaRPr/>
          </a:p>
          <a:p>
            <a:pPr>
              <a:defRPr sz="1800">
                <a:latin typeface="Times New Roman"/>
              </a:defRPr>
            </a:pPr>
            <a:r>
              <a:t>Flask Web Development Framework Documentation - Pallets Projects</a:t>
            </a:r>
          </a:p>
          <a:p>
            <a:pPr>
              <a:defRPr sz="1800">
                <a:latin typeface="Times New Roman"/>
              </a:defRPr>
            </a:pPr>
            <a:r>
              <a:t>Pima Indians Diabetes Database - NIDDK &amp; World Health Organization (WHO)</a:t>
            </a:r>
          </a:p>
          <a:p>
            <a:pPr>
              <a:defRPr sz="1800">
                <a:latin typeface="Times New Roman"/>
              </a:defRPr>
            </a:pPr>
            <a:r>
              <a:t>Research Papers on Logistic Regression for Clinical Decision Support Systems</a:t>
            </a:r>
          </a:p>
          <a:p>
            <a:pPr>
              <a:defRPr sz="1800">
                <a:latin typeface="Times New Roman"/>
              </a:defRPr>
            </a:pPr>
            <a:r>
              <a:t>MDN Web Docs - Modern HTML5, CSS Glassmorphism, and ES6 JavaScript Standards</a:t>
            </a:r>
          </a:p>
        </p:txBody>
      </p:sp>
      <p:sp>
        <p:nvSpPr>
          <p:cNvPr id="191" name="Google Shape;191;p15"/>
          <p:cNvSpPr txBox="1"/>
          <p:nvPr/>
        </p:nvSpPr>
        <p:spPr>
          <a:xfrm>
            <a:off x="3943430" y="643467"/>
            <a:ext cx="43688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3200" b="1">
                <a:latin typeface="Times New Roman"/>
              </a:defRPr>
            </a:pPr>
            <a:r>
              <a:t>REFERENCES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6"/>
          <p:cNvSpPr txBox="1"/>
          <p:nvPr/>
        </p:nvSpPr>
        <p:spPr>
          <a:xfrm>
            <a:off x="2870200" y="2171075"/>
            <a:ext cx="6985000" cy="144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THANKYOU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914</Words>
  <Application>Microsoft Office PowerPoint</Application>
  <PresentationFormat>Custom</PresentationFormat>
  <Paragraphs>73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Times New Roman</vt:lpstr>
      <vt:lpstr>Libre Franklin</vt:lpstr>
      <vt:lpstr>Noto Sans Symbols</vt:lpstr>
      <vt:lpstr>Crop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priyaumapathy2205@outlook.com</dc:creator>
  <cp:lastModifiedBy>exam</cp:lastModifiedBy>
  <cp:revision>1</cp:revision>
  <dcterms:created xsi:type="dcterms:W3CDTF">2025-11-07T15:59:23Z</dcterms:created>
  <dcterms:modified xsi:type="dcterms:W3CDTF">2026-07-25T06:18:53Z</dcterms:modified>
</cp:coreProperties>
</file>